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ubVw83PEuhOQzTbnlmNxTtVIT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8" Type="http://customschemas.google.com/relationships/presentationmetadata" Target="metadata"/><Relationship Id="rId27" Type="http://schemas.openxmlformats.org/officeDocument/2006/relationships/font" Target="fonts/Inter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https://docs.pinecone.io/guides/index-data/indexing-overview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https://docs.pinecone.io/guides/search/semantic-search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https://docs.pinecone.io/guides/index-data/indexing-overview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https://docs.pinecone.io/guides/search/semantic-search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hyperlink" Target="https://www.ibm.com/think/topics/vector-database" TargetMode="External"/><Relationship Id="rId5" Type="http://schemas.openxmlformats.org/officeDocument/2006/relationships/hyperlink" Target="https://www.oracle.com/br/database/ai-vector-search/" TargetMode="External"/><Relationship Id="rId6" Type="http://schemas.openxmlformats.org/officeDocument/2006/relationships/hyperlink" Target="https://cloud.google.com/discover/what-is-a-vector-database" TargetMode="External"/><Relationship Id="rId7" Type="http://schemas.openxmlformats.org/officeDocument/2006/relationships/hyperlink" Target="https://github.com/pgvector/pgvector" TargetMode="External"/><Relationship Id="rId8" Type="http://schemas.openxmlformats.org/officeDocument/2006/relationships/hyperlink" Target="https://arxiv.org/abs/1603.093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4143375" y="-714375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714375" y="1285875"/>
            <a:ext cx="53244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400"/>
              </a:lnSpc>
              <a:spcBef>
                <a:spcPts val="0"/>
              </a:spcBef>
              <a:spcAft>
                <a:spcPts val="0"/>
              </a:spcAft>
              <a:buClr>
                <a:srgbClr val="1A3622"/>
              </a:buClr>
              <a:buSzPts val="3750"/>
              <a:buFont typeface="Inter SemiBold"/>
              <a:buNone/>
            </a:pPr>
            <a:r>
              <a:rPr b="1" i="0" lang="en-US" sz="3750" u="none" cap="none">
                <a:solidFill>
                  <a:srgbClr val="1A362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Bancos de Dados Vetoriais</a:t>
            </a:r>
            <a:endParaRPr b="0" i="0" sz="375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14375" y="2682590"/>
            <a:ext cx="428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5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A35"/>
              </a:buClr>
              <a:buSzPts val="1500"/>
              <a:buFont typeface="Inter Medium"/>
              <a:buNone/>
            </a:pPr>
            <a:r>
              <a:rPr b="0" i="0" lang="en-US" sz="1500" u="none" cap="none">
                <a:solidFill>
                  <a:srgbClr val="2C4A35"/>
                </a:solidFill>
                <a:latin typeface="Inter Medium"/>
                <a:ea typeface="Inter Medium"/>
                <a:cs typeface="Inter Medium"/>
                <a:sym typeface="Inter Medium"/>
              </a:rPr>
              <a:t>Seminário de Banco de Dados</a:t>
            </a:r>
            <a:br>
              <a:rPr lang="en-US" sz="1800"/>
            </a:br>
            <a:r>
              <a:rPr lang="en-US" sz="1500">
                <a:solidFill>
                  <a:srgbClr val="2C4A35"/>
                </a:solidFill>
                <a:latin typeface="Inter Medium"/>
                <a:ea typeface="Inter Medium"/>
                <a:cs typeface="Inter Medium"/>
                <a:sym typeface="Inter Medium"/>
              </a:rPr>
              <a:t>Sistemas de Informação - 2026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14375" y="3823281"/>
            <a:ext cx="36303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571"/>
              </a:lnSpc>
              <a:spcBef>
                <a:spcPts val="0"/>
              </a:spcBef>
              <a:spcAft>
                <a:spcPts val="0"/>
              </a:spcAft>
              <a:buClr>
                <a:srgbClr val="C85A40"/>
              </a:buClr>
              <a:buSzPts val="750"/>
              <a:buFont typeface="Inter"/>
              <a:buNone/>
            </a:pPr>
            <a:r>
              <a:rPr b="0" i="0" lang="en-US" sz="750" u="none" cap="none">
                <a:solidFill>
                  <a:srgbClr val="C85A40"/>
                </a:solidFill>
                <a:latin typeface="Inter"/>
                <a:ea typeface="Inter"/>
                <a:cs typeface="Inter"/>
                <a:sym typeface="Inter"/>
              </a:rPr>
              <a:t>INTEGRANTES</a:t>
            </a:r>
            <a:br>
              <a:rPr lang="en-US" sz="1800"/>
            </a:br>
            <a:r>
              <a:rPr b="1" i="0" lang="en-US" sz="850" u="none" cap="none">
                <a:solidFill>
                  <a:srgbClr val="C85A40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r>
              <a:rPr b="0" i="0" lang="en-US" sz="900" u="none" cap="none">
                <a:solidFill>
                  <a:srgbClr val="2C4A35"/>
                </a:solidFill>
                <a:latin typeface="Inter"/>
                <a:ea typeface="Inter"/>
                <a:cs typeface="Inter"/>
                <a:sym typeface="Inter"/>
              </a:rPr>
              <a:t> João Pedro Giacometti Guerreiro </a:t>
            </a:r>
            <a:br>
              <a:rPr lang="en-US" sz="1800"/>
            </a:br>
            <a:r>
              <a:rPr b="1" i="0" lang="en-US" sz="850" u="none" cap="none">
                <a:solidFill>
                  <a:srgbClr val="C85A40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r>
              <a:rPr b="0" i="0" lang="en-US" sz="900" u="none" cap="none">
                <a:solidFill>
                  <a:srgbClr val="2C4A35"/>
                </a:solidFill>
                <a:latin typeface="Inter"/>
                <a:ea typeface="Inter"/>
                <a:cs typeface="Inter"/>
                <a:sym typeface="Inter"/>
              </a:rPr>
              <a:t> Sth</a:t>
            </a:r>
            <a:r>
              <a:rPr lang="en-US" sz="900">
                <a:solidFill>
                  <a:srgbClr val="2C4A35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0" i="0" lang="en-US" sz="900" u="none" cap="none">
                <a:solidFill>
                  <a:srgbClr val="2C4A35"/>
                </a:solidFill>
                <a:latin typeface="Inter"/>
                <a:ea typeface="Inter"/>
                <a:cs typeface="Inter"/>
                <a:sym typeface="Inter"/>
              </a:rPr>
              <a:t>fani Arcaro de Carvalho </a:t>
            </a:r>
            <a:br>
              <a:rPr lang="en-US" sz="1800"/>
            </a:br>
            <a:r>
              <a:rPr b="1" i="0" lang="en-US" sz="850" u="none" cap="none">
                <a:solidFill>
                  <a:srgbClr val="C85A40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r>
              <a:rPr b="0" i="0" lang="en-US" sz="900" u="none" cap="none">
                <a:solidFill>
                  <a:srgbClr val="2C4A35"/>
                </a:solidFill>
                <a:latin typeface="Inter"/>
                <a:ea typeface="Inter"/>
                <a:cs typeface="Inter"/>
                <a:sym typeface="Inter"/>
              </a:rPr>
              <a:t> Gleivan Afonso Bezerra Junior</a:t>
            </a:r>
            <a:endParaRPr b="0" i="0" sz="75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2"/>
          <p:cNvGrpSpPr/>
          <p:nvPr/>
        </p:nvGrpSpPr>
        <p:grpSpPr>
          <a:xfrm>
            <a:off x="714300" y="916763"/>
            <a:ext cx="7715400" cy="3309975"/>
            <a:chOff x="771075" y="368375"/>
            <a:chExt cx="7715400" cy="3309975"/>
          </a:xfrm>
        </p:grpSpPr>
        <p:sp>
          <p:nvSpPr>
            <p:cNvPr id="26" name="Google Shape;26;p2"/>
            <p:cNvSpPr/>
            <p:nvPr/>
          </p:nvSpPr>
          <p:spPr>
            <a:xfrm>
              <a:off x="771075" y="368375"/>
              <a:ext cx="29673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500"/>
                <a:buFont typeface="Inter"/>
                <a:buNone/>
              </a:pPr>
              <a:r>
                <a:rPr lang="en-US" sz="3500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Como surgi</a:t>
              </a:r>
              <a:r>
                <a:rPr lang="en-US" sz="3500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u</a:t>
              </a: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?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71075" y="1286741"/>
              <a:ext cx="4371900" cy="10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A ideia de vetorizar documentos nasceu na recuperação de informação clássica, permitindo que textos fossem comparados por cálculos matemáticos em vez de simples cruzamento de palavras. </a:t>
              </a:r>
              <a:endParaRPr b="0" i="0" sz="12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1075" y="2326676"/>
              <a:ext cx="4371900" cy="12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7005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Atualmente, modelos avançados de IA geram embeddings: representações matemáticas densas. Com eles, textos, imagens ou áudios com significados semelhantes habitam a mesma 'vizinhança' no espaço vetorial, independentemente do formato.</a:t>
              </a:r>
              <a:endParaRPr b="0" i="0" sz="12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571675" y="1229450"/>
              <a:ext cx="2914800" cy="2448900"/>
            </a:xfrm>
            <a:prstGeom prst="rect">
              <a:avLst/>
            </a:prstGeom>
            <a:solidFill>
              <a:srgbClr val="DDE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571675" y="1229441"/>
              <a:ext cx="2914800" cy="57300"/>
            </a:xfrm>
            <a:prstGeom prst="rect">
              <a:avLst/>
            </a:prstGeom>
            <a:solidFill>
              <a:srgbClr val="C85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785988" y="1427104"/>
              <a:ext cx="24861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1000"/>
                <a:buFont typeface="Inter Medium"/>
                <a:buNone/>
              </a:pPr>
              <a:r>
                <a:rPr b="1" lang="en-US" sz="1000">
                  <a:solidFill>
                    <a:srgbClr val="C85A4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1975 - Modelo vetorial</a:t>
              </a:r>
              <a:endParaRPr b="0" i="0" sz="10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786000" y="1637834"/>
              <a:ext cx="24861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950"/>
                <a:buFont typeface="Inter"/>
                <a:buNone/>
              </a:pPr>
              <a:r>
                <a:rPr lang="en-US" sz="950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Surge a ideia matemática de transformar documentos em vetores.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86013" y="2159156"/>
              <a:ext cx="24861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1000"/>
                <a:buFont typeface="Inter Medium"/>
                <a:buNone/>
              </a:pPr>
              <a:r>
                <a:rPr b="1" i="0" lang="en-US" sz="1000" u="none" cap="none">
                  <a:solidFill>
                    <a:srgbClr val="C85A4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2013–2018 - Revolução semântica</a:t>
              </a:r>
              <a:endParaRPr b="0" i="0" sz="10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86025" y="2369901"/>
              <a:ext cx="24861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950"/>
                <a:buFont typeface="Inter"/>
                <a:buNone/>
              </a:pPr>
              <a:r>
                <a:rPr lang="en-US" sz="950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Modelos como Word2Vec e BERT criam embeddings densos, capturando o contexto e o real significado dos dados.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85988" y="2959259"/>
              <a:ext cx="24861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1000"/>
                <a:buFont typeface="Inter Medium"/>
                <a:buNone/>
              </a:pPr>
              <a:r>
                <a:rPr b="1" i="0" lang="en-US" sz="1000" u="none" cap="none">
                  <a:solidFill>
                    <a:srgbClr val="C85A4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Anos 2020</a:t>
              </a:r>
              <a:r>
                <a:rPr b="1" lang="en-US" sz="1000">
                  <a:solidFill>
                    <a:srgbClr val="C85A4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- A era dos bancos vetoriais</a:t>
              </a:r>
              <a:endParaRPr b="0" i="0" sz="10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86000" y="3170000"/>
              <a:ext cx="24861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950"/>
                <a:buFont typeface="Inter"/>
                <a:buNone/>
              </a:pPr>
              <a:r>
                <a:rPr lang="en-US" sz="950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O volume de vetores exige infraestrutura dedicada. Ganham força para buscas semânticas e arquiteturas RAG com LLMs. 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3"/>
          <p:cNvGrpSpPr/>
          <p:nvPr/>
        </p:nvGrpSpPr>
        <p:grpSpPr>
          <a:xfrm>
            <a:off x="714300" y="703606"/>
            <a:ext cx="7715400" cy="3736288"/>
            <a:chOff x="759750" y="365925"/>
            <a:chExt cx="7715400" cy="3736288"/>
          </a:xfrm>
        </p:grpSpPr>
        <p:sp>
          <p:nvSpPr>
            <p:cNvPr id="43" name="Google Shape;43;p3"/>
            <p:cNvSpPr/>
            <p:nvPr/>
          </p:nvSpPr>
          <p:spPr>
            <a:xfrm>
              <a:off x="759750" y="365925"/>
              <a:ext cx="57861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500"/>
                <a:buFont typeface="Inter"/>
                <a:buNone/>
              </a:pP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O que é um banco vetorial?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59750" y="1247616"/>
              <a:ext cx="2857500" cy="10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250"/>
                <a:buFont typeface="Inter"/>
                <a:buNone/>
              </a:pPr>
              <a:r>
                <a:rPr b="0" i="0" lang="en-US" sz="12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Armazena e indexa vetores numéricos que representam textos, imagens, áudios ou outros tipos de dados.</a:t>
              </a:r>
              <a:endParaRPr b="0" i="0" sz="12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59750" y="2730613"/>
              <a:ext cx="28575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250"/>
                <a:buFont typeface="Inter"/>
                <a:buNone/>
              </a:pPr>
              <a:r>
                <a:rPr b="0" i="0" lang="en-US" sz="12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Na busca, compara o vetor da consulta com os vetores armazenados e retorna os mais próximos — isto é, os mais similares.</a:t>
              </a:r>
              <a:endParaRPr b="0" i="0" sz="12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188750" y="1247616"/>
              <a:ext cx="4286400" cy="2854500"/>
            </a:xfrm>
            <a:prstGeom prst="rect">
              <a:avLst/>
            </a:prstGeom>
            <a:solidFill>
              <a:srgbClr val="1A36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4474500" y="1676241"/>
              <a:ext cx="3714900" cy="6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1700"/>
                <a:buFont typeface="Arial"/>
                <a:buNone/>
              </a:pPr>
              <a:r>
                <a:rPr b="0" i="0" lang="en-US" sz="1700" u="none" cap="none">
                  <a:solidFill>
                    <a:srgbClr val="C85A40"/>
                  </a:solidFill>
                  <a:latin typeface="Arial"/>
                  <a:ea typeface="Arial"/>
                  <a:cs typeface="Arial"/>
                  <a:sym typeface="Arial"/>
                </a:rPr>
                <a:t>Dado → embedding → vetor → busca</a:t>
              </a:r>
              <a:endParaRPr b="0" i="0" sz="17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4474500" y="2530588"/>
              <a:ext cx="3714900" cy="3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F0E6"/>
                </a:buClr>
                <a:buSzPts val="950"/>
                <a:buFont typeface="Inter"/>
                <a:buNone/>
              </a:pPr>
              <a:r>
                <a:rPr b="0" i="0" lang="en-US" sz="950" u="none" cap="none">
                  <a:solidFill>
                    <a:srgbClr val="E8F0E6"/>
                  </a:solidFill>
                  <a:latin typeface="Inter"/>
                  <a:ea typeface="Inter"/>
                  <a:cs typeface="Inter"/>
                  <a:sym typeface="Inter"/>
                </a:rPr>
                <a:t>A similaridade entre vetores permite buscar por significado, não apenas por palavras exatas.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14300" y="705081"/>
            <a:ext cx="7715400" cy="3733338"/>
            <a:chOff x="759750" y="368850"/>
            <a:chExt cx="7715400" cy="3733338"/>
          </a:xfrm>
        </p:grpSpPr>
        <p:sp>
          <p:nvSpPr>
            <p:cNvPr id="55" name="Google Shape;55;p4"/>
            <p:cNvSpPr/>
            <p:nvPr/>
          </p:nvSpPr>
          <p:spPr>
            <a:xfrm>
              <a:off x="759750" y="368850"/>
              <a:ext cx="38913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500"/>
                <a:buFont typeface="Inter"/>
                <a:buNone/>
              </a:pP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O que é um vetor?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759750" y="1247591"/>
              <a:ext cx="2857500" cy="10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250"/>
                <a:buFont typeface="Inter"/>
                <a:buNone/>
              </a:pPr>
              <a:r>
                <a:rPr b="0" i="0" lang="en-US" sz="12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Um vetor é uma sequência ordenada de números. Cada posição corresponde a uma dimensão da representação.</a:t>
              </a:r>
              <a:endParaRPr b="0" i="0" sz="12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759750" y="2730588"/>
              <a:ext cx="28575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250"/>
                <a:buFont typeface="Inter"/>
                <a:buNone/>
              </a:pPr>
              <a:r>
                <a:rPr b="0" i="0" lang="en-US" sz="12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Um embedding é o vetor gerado por um modelo para representar um conteúdo. Dados parecidos tendem a produzir vetores próximos.</a:t>
              </a:r>
              <a:endParaRPr b="0" i="0" sz="12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188750" y="1247591"/>
              <a:ext cx="4286400" cy="2854500"/>
            </a:xfrm>
            <a:prstGeom prst="rect">
              <a:avLst/>
            </a:prstGeom>
            <a:solidFill>
              <a:srgbClr val="1A36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474500" y="1676216"/>
              <a:ext cx="3714900" cy="6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1700"/>
                <a:buFont typeface="Arial"/>
                <a:buNone/>
              </a:pPr>
              <a:r>
                <a:rPr b="0" i="0" lang="en-US" sz="1700" u="none" cap="none">
                  <a:solidFill>
                    <a:srgbClr val="C85A40"/>
                  </a:solidFill>
                  <a:latin typeface="Arial"/>
                  <a:ea typeface="Arial"/>
                  <a:cs typeface="Arial"/>
                  <a:sym typeface="Arial"/>
                </a:rPr>
                <a:t>[0.42, -0.18, 0.77, 0.05, ...]</a:t>
              </a:r>
              <a:endParaRPr b="0" i="0" sz="17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474500" y="2530563"/>
              <a:ext cx="3714900" cy="3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F0E6"/>
                </a:buClr>
                <a:buSzPts val="950"/>
                <a:buFont typeface="Inter"/>
                <a:buNone/>
              </a:pPr>
              <a:r>
                <a:rPr b="0" i="0" lang="en-US" sz="950" u="none" cap="none">
                  <a:solidFill>
                    <a:srgbClr val="E8F0E6"/>
                  </a:solidFill>
                  <a:latin typeface="Inter"/>
                  <a:ea typeface="Inter"/>
                  <a:cs typeface="Inter"/>
                  <a:sym typeface="Inter"/>
                </a:rPr>
                <a:t>Exemplo de embedding: em aplicações reais, o vetor costuma ter centenas ou milhares de dimensões.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5"/>
          <p:cNvGrpSpPr/>
          <p:nvPr/>
        </p:nvGrpSpPr>
        <p:grpSpPr>
          <a:xfrm>
            <a:off x="714413" y="549904"/>
            <a:ext cx="7715175" cy="4043691"/>
            <a:chOff x="714413" y="377300"/>
            <a:chExt cx="7715175" cy="4043691"/>
          </a:xfrm>
        </p:grpSpPr>
        <p:sp>
          <p:nvSpPr>
            <p:cNvPr id="67" name="Google Shape;67;p5"/>
            <p:cNvSpPr/>
            <p:nvPr/>
          </p:nvSpPr>
          <p:spPr>
            <a:xfrm>
              <a:off x="714425" y="377300"/>
              <a:ext cx="50739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500"/>
                <a:buFont typeface="Inter"/>
                <a:buNone/>
              </a:pP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Organização dos Dados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714413" y="1263491"/>
              <a:ext cx="12858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050" lIns="0" spcFirstLastPara="1" rIns="0" wrap="square" tIns="1700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1000"/>
                <a:buFont typeface="Inter Medium"/>
                <a:buNone/>
              </a:pPr>
              <a:r>
                <a:rPr b="1" i="0" lang="en-US" sz="1000" u="none" cap="none">
                  <a:solidFill>
                    <a:srgbClr val="C85A4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COMPONENTE</a:t>
              </a:r>
              <a:endParaRPr b="0" i="0" sz="10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2000288" y="1263491"/>
              <a:ext cx="35718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050" lIns="0" spcFirstLastPara="1" rIns="0" wrap="square" tIns="1700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1000"/>
                <a:buFont typeface="Inter Medium"/>
                <a:buNone/>
              </a:pPr>
              <a:r>
                <a:rPr b="1" i="0" lang="en-US" sz="1000" u="none" cap="none">
                  <a:solidFill>
                    <a:srgbClr val="C85A4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FUNÇÃO NO REGISTRO</a:t>
              </a:r>
              <a:endParaRPr b="0" i="0" sz="10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714413" y="1731406"/>
              <a:ext cx="12858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2575" lIns="0" spcFirstLastPara="1" rIns="0" wrap="square" tIns="2125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1000"/>
                <a:buFont typeface="Inter Medium"/>
                <a:buNone/>
              </a:pPr>
              <a:r>
                <a:rPr b="1" i="0" lang="en-US" sz="1000" u="none" cap="none">
                  <a:solidFill>
                    <a:srgbClr val="1A362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ID</a:t>
              </a:r>
              <a:endParaRPr b="0" i="0" sz="10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2000288" y="1731406"/>
              <a:ext cx="35718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2575" lIns="0" spcFirstLastPara="1" rIns="0" wrap="square" tIns="2125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050"/>
                <a:buFont typeface="Inter"/>
                <a:buNone/>
              </a:pPr>
              <a:r>
                <a:rPr b="0" i="0" lang="en-US" sz="10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Identificador único do objeto no banco de dados.</a:t>
              </a:r>
              <a:endParaRPr b="0" i="0" sz="10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4413" y="2274331"/>
              <a:ext cx="1285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2575" lIns="0" spcFirstLastPara="1" rIns="0" wrap="square" tIns="2125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1000"/>
                <a:buFont typeface="Inter Medium"/>
                <a:buNone/>
              </a:pPr>
              <a:r>
                <a:rPr b="1" i="0" lang="en-US" sz="1000" u="none" cap="none">
                  <a:solidFill>
                    <a:srgbClr val="1A362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Vetor</a:t>
              </a:r>
              <a:endParaRPr b="0" i="0" sz="10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2000288" y="2274331"/>
              <a:ext cx="3571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2575" lIns="0" spcFirstLastPara="1" rIns="0" wrap="square" tIns="2125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050"/>
                <a:buFont typeface="Inter"/>
                <a:buNone/>
              </a:pPr>
              <a:r>
                <a:rPr b="0" i="0" lang="en-US" sz="10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O embedding (array numérico) que representa o conteúdo.</a:t>
              </a:r>
              <a:endParaRPr b="0" i="0" sz="10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14413" y="2988706"/>
              <a:ext cx="1285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2575" lIns="0" spcFirstLastPara="1" rIns="0" wrap="square" tIns="2125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1000"/>
                <a:buFont typeface="Inter Medium"/>
                <a:buNone/>
              </a:pPr>
              <a:r>
                <a:rPr b="1" i="0" lang="en-US" sz="1000" u="none" cap="none">
                  <a:solidFill>
                    <a:srgbClr val="1A362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Metadados</a:t>
              </a:r>
              <a:endParaRPr b="0" i="0" sz="10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000288" y="2988706"/>
              <a:ext cx="3571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2575" lIns="0" spcFirstLastPara="1" rIns="0" wrap="square" tIns="2125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050"/>
                <a:buFont typeface="Inter"/>
                <a:buNone/>
              </a:pPr>
              <a:r>
                <a:rPr b="0" i="0" lang="en-US" sz="10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Informações extras (data, autor, tags) para filtragem lógica.</a:t>
              </a:r>
              <a:endParaRPr b="0" i="0" sz="10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714413" y="3703081"/>
              <a:ext cx="1285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2575" lIns="0" spcFirstLastPara="1" rIns="0" wrap="square" tIns="2125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1000"/>
                <a:buFont typeface="Inter Medium"/>
                <a:buNone/>
              </a:pPr>
              <a:r>
                <a:rPr b="1" i="0" lang="en-US" sz="1000" u="none" cap="none">
                  <a:solidFill>
                    <a:srgbClr val="1A362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Payload</a:t>
              </a:r>
              <a:endParaRPr b="0" i="0" sz="10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000288" y="3703081"/>
              <a:ext cx="3571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2575" lIns="0" spcFirstLastPara="1" rIns="0" wrap="square" tIns="2125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050"/>
                <a:buFont typeface="Inter"/>
                <a:buNone/>
              </a:pPr>
              <a:r>
                <a:rPr b="0" i="0" lang="en-US" sz="10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O conteúdo original ou referência (texto, link da imagem).</a:t>
              </a:r>
              <a:endParaRPr b="0" i="0" sz="10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6000788" y="1263491"/>
              <a:ext cx="2428800" cy="3157500"/>
            </a:xfrm>
            <a:prstGeom prst="rect">
              <a:avLst/>
            </a:prstGeom>
            <a:solidFill>
              <a:srgbClr val="DDE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00788" y="1263491"/>
              <a:ext cx="42900" cy="3157500"/>
            </a:xfrm>
            <a:prstGeom prst="rect">
              <a:avLst/>
            </a:prstGeom>
            <a:solidFill>
              <a:srgbClr val="C85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15101" y="1549241"/>
              <a:ext cx="2000100" cy="2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1250"/>
                <a:buFont typeface="Inter"/>
                <a:buNone/>
              </a:pPr>
              <a:r>
                <a:rPr b="0" i="0" lang="en-US" sz="125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Fluxo de Ingestão</a:t>
              </a:r>
              <a:endParaRPr b="0" i="0" sz="12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215101" y="1902856"/>
              <a:ext cx="20001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950"/>
                <a:buFont typeface="Inter"/>
                <a:buNone/>
              </a:pPr>
              <a:r>
                <a:rPr b="0" i="0" lang="en-US" sz="95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r>
                <a:rPr b="0" i="0" lang="en-US" sz="9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 1. Conteúdo Bruto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215101" y="2190002"/>
              <a:ext cx="20001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950"/>
                <a:buFont typeface="Inter"/>
                <a:buNone/>
              </a:pPr>
              <a:r>
                <a:rPr b="0" i="0" lang="en-US" sz="95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r>
                <a:rPr b="0" i="0" lang="en-US" sz="9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 2. Modelo de Embedding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215101" y="2477147"/>
              <a:ext cx="20001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950"/>
                <a:buFont typeface="Inter"/>
                <a:buNone/>
              </a:pPr>
              <a:r>
                <a:rPr b="0" i="0" lang="en-US" sz="95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r>
                <a:rPr b="0" i="0" lang="en-US" sz="9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 3. Vetor + Metadados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215101" y="2764292"/>
              <a:ext cx="20001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950"/>
                <a:buFont typeface="Inter"/>
                <a:buNone/>
              </a:pPr>
              <a:r>
                <a:rPr b="0" i="0" lang="en-US" sz="95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r>
                <a:rPr b="0" i="0" lang="en-US" sz="9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 4. Índice Vetorial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6"/>
          <p:cNvGrpSpPr/>
          <p:nvPr/>
        </p:nvGrpSpPr>
        <p:grpSpPr>
          <a:xfrm>
            <a:off x="1003640" y="494324"/>
            <a:ext cx="7136719" cy="4154851"/>
            <a:chOff x="714375" y="384250"/>
            <a:chExt cx="7136719" cy="4154851"/>
          </a:xfrm>
        </p:grpSpPr>
        <p:sp>
          <p:nvSpPr>
            <p:cNvPr id="91" name="Google Shape;91;p6"/>
            <p:cNvSpPr/>
            <p:nvPr/>
          </p:nvSpPr>
          <p:spPr>
            <a:xfrm>
              <a:off x="714375" y="384250"/>
              <a:ext cx="39966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500"/>
                <a:buFont typeface="Inter"/>
                <a:buNone/>
              </a:pP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Busca e Indexação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714375" y="1258941"/>
              <a:ext cx="29148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150"/>
                <a:buFont typeface="Inter"/>
                <a:buNone/>
              </a:pPr>
              <a:r>
                <a:rPr b="0" i="0" lang="en-US" sz="11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A busca exata é lenta em larga escala. Por isso, utilizamos </a:t>
              </a:r>
              <a:r>
                <a:rPr b="1" i="0" lang="en-US" sz="1100" u="none" cap="none">
                  <a:solidFill>
                    <a:srgbClr val="2C4A3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ANN (Approximate Nearest Neighbor)</a:t>
              </a:r>
              <a:r>
                <a:rPr b="0" i="0" lang="en-US" sz="11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i="0" sz="11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714375" y="2384695"/>
              <a:ext cx="2914800" cy="10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150"/>
                <a:buFont typeface="Inter"/>
                <a:buNone/>
              </a:pPr>
              <a:r>
                <a:rPr b="0" i="0" lang="en-US" sz="11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O algoritmo </a:t>
              </a:r>
              <a:r>
                <a:rPr b="1" i="0" lang="en-US" sz="1100" u="none" cap="none">
                  <a:solidFill>
                    <a:srgbClr val="2C4A3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HNSW</a:t>
              </a:r>
              <a:r>
                <a:rPr b="0" i="0" lang="en-US" sz="11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 organiza os dados em um grafo de múltiplas camadas, permitindo saltos rápidos entre grupos de vetores.</a:t>
              </a:r>
              <a:endParaRPr b="0" i="0" sz="11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714375" y="3390401"/>
              <a:ext cx="2914800" cy="11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7005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150"/>
                <a:buFont typeface="Inter"/>
                <a:buNone/>
              </a:pPr>
              <a:r>
                <a:rPr b="0" i="0" lang="en-US" sz="11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Isso garante latência de milissegundos mesmo em bilhões de registros, trocando uma fração mínima de precisão por velocidade extrema.</a:t>
              </a:r>
              <a:endParaRPr b="0" i="0" sz="11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5425258" y="1632202"/>
              <a:ext cx="1636800" cy="571500"/>
            </a:xfrm>
            <a:prstGeom prst="rect">
              <a:avLst/>
            </a:prstGeom>
            <a:solidFill>
              <a:srgbClr val="1A3622">
                <a:alpha val="40000"/>
              </a:srgbClr>
            </a:solidFill>
            <a:ln cap="flat" cmpd="sng" w="9525">
              <a:solidFill>
                <a:srgbClr val="C85A40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5425258" y="1632202"/>
              <a:ext cx="1636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8F0E6"/>
                </a:buClr>
                <a:buSzPts val="850"/>
                <a:buFont typeface="Inter Medium"/>
                <a:buNone/>
              </a:pPr>
              <a:r>
                <a:rPr b="0" i="0" lang="en-US" sz="850" u="none" cap="none">
                  <a:solidFill>
                    <a:srgbClr val="E8F0E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Camada 2 (Esparsa)</a:t>
              </a:r>
              <a:endParaRPr b="0" i="0" sz="8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5068070" y="1989389"/>
              <a:ext cx="2351100" cy="571500"/>
            </a:xfrm>
            <a:prstGeom prst="rect">
              <a:avLst/>
            </a:prstGeom>
            <a:solidFill>
              <a:srgbClr val="1A3622">
                <a:alpha val="70196"/>
              </a:srgbClr>
            </a:solidFill>
            <a:ln cap="flat" cmpd="sng" w="9525">
              <a:solidFill>
                <a:srgbClr val="C85A40">
                  <a:alpha val="7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5068070" y="1989389"/>
              <a:ext cx="2351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8F0E6"/>
                </a:buClr>
                <a:buSzPts val="850"/>
                <a:buFont typeface="Inter Medium"/>
                <a:buNone/>
              </a:pPr>
              <a:r>
                <a:rPr b="0" i="0" lang="en-US" sz="850" u="none" cap="none">
                  <a:solidFill>
                    <a:srgbClr val="E8F0E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Camada 1</a:t>
              </a:r>
              <a:endParaRPr b="0" i="0" sz="8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4710883" y="2346577"/>
              <a:ext cx="3065400" cy="571500"/>
            </a:xfrm>
            <a:prstGeom prst="rect">
              <a:avLst/>
            </a:prstGeom>
            <a:solidFill>
              <a:srgbClr val="1A3622"/>
            </a:solidFill>
            <a:ln cap="flat" cmpd="sng" w="9525">
              <a:solidFill>
                <a:srgbClr val="C85A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4710883" y="2346577"/>
              <a:ext cx="306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8F0E6"/>
                </a:buClr>
                <a:buSzPts val="850"/>
                <a:buFont typeface="Inter Medium"/>
                <a:buNone/>
              </a:pPr>
              <a:r>
                <a:rPr b="0" i="0" lang="en-US" sz="850" u="none" cap="none">
                  <a:solidFill>
                    <a:srgbClr val="E8F0E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Camada 0 (Densa)</a:t>
              </a:r>
              <a:endParaRPr b="0" i="0" sz="8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5600700" y="2989514"/>
              <a:ext cx="1285800" cy="1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850"/>
                <a:buFont typeface="Inter"/>
                <a:buNone/>
              </a:pPr>
              <a:r>
                <a:rPr b="0" i="0" lang="en-US" sz="85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rPr>
                <a:t>ESTRUTURA HNSW</a:t>
              </a:r>
              <a:endParaRPr b="0" i="0" sz="8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4636294" y="3414567"/>
              <a:ext cx="3214800" cy="4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950"/>
                <a:buFont typeface="Inter"/>
                <a:buNone/>
              </a:pPr>
              <a:r>
                <a:rPr b="0" i="0" lang="en-US" sz="9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A busca "navega" pelas camadas superiores para localizar a região correta e refina o resultado nas camadas inferiores.</a:t>
              </a:r>
              <a:endParaRPr b="0" i="0" sz="9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7"/>
          <p:cNvGrpSpPr/>
          <p:nvPr/>
        </p:nvGrpSpPr>
        <p:grpSpPr>
          <a:xfrm>
            <a:off x="714263" y="809624"/>
            <a:ext cx="7715475" cy="3524252"/>
            <a:chOff x="714263" y="368827"/>
            <a:chExt cx="7715475" cy="3524252"/>
          </a:xfrm>
        </p:grpSpPr>
        <p:sp>
          <p:nvSpPr>
            <p:cNvPr id="109" name="Google Shape;109;p7"/>
            <p:cNvSpPr/>
            <p:nvPr/>
          </p:nvSpPr>
          <p:spPr>
            <a:xfrm>
              <a:off x="714354" y="368827"/>
              <a:ext cx="49761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500"/>
                <a:buFont typeface="Inter"/>
                <a:buNone/>
              </a:pP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Vantagens Estratégicas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714338" y="1250404"/>
              <a:ext cx="37149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1400"/>
                <a:buFont typeface="Inter"/>
                <a:buNone/>
              </a:pPr>
              <a:r>
                <a:rPr b="1" i="0" lang="en-US" sz="140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rPr>
                <a:t>Busca Semântica</a:t>
              </a:r>
              <a:endParaRPr b="0" i="0" sz="14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714338" y="1600447"/>
              <a:ext cx="3714900" cy="7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150"/>
                <a:buFont typeface="Inter"/>
                <a:buNone/>
              </a:pPr>
              <a:r>
                <a:rPr b="0" i="0" lang="en-US" sz="11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Recupera informações baseadas no </a:t>
              </a:r>
              <a:r>
                <a:rPr b="1" i="0" lang="en-US" sz="110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contexto e significado</a:t>
              </a:r>
              <a:r>
                <a:rPr b="0" i="0" lang="en-US" sz="11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, superando as limitações de palavras-chave literais.</a:t>
              </a:r>
              <a:endParaRPr b="0" i="0" sz="11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4714838" y="1250404"/>
              <a:ext cx="37149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5A40"/>
                </a:buClr>
                <a:buSzPts val="1400"/>
                <a:buFont typeface="Inter"/>
                <a:buNone/>
              </a:pPr>
              <a:r>
                <a:rPr b="1" i="0" lang="en-US" sz="140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rPr>
                <a:t>Multimodalidade</a:t>
              </a:r>
              <a:endParaRPr b="0" i="0" sz="14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4714838" y="1600447"/>
              <a:ext cx="3714900" cy="7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A35"/>
                </a:buClr>
                <a:buSzPts val="1150"/>
                <a:buFont typeface="Inter"/>
                <a:buNone/>
              </a:pPr>
              <a:r>
                <a:rPr b="0" i="0" lang="en-US" sz="1150" u="none" cap="none">
                  <a:solidFill>
                    <a:srgbClr val="2C4A35"/>
                  </a:solidFill>
                  <a:latin typeface="Inter"/>
                  <a:ea typeface="Inter"/>
                  <a:cs typeface="Inter"/>
                  <a:sym typeface="Inter"/>
                </a:rPr>
                <a:t>Permite comparar e buscar entre diferentes tipos de dados, como encontrar imagens usando descrições textuais.</a:t>
              </a:r>
              <a:endParaRPr b="0" i="0" sz="11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714263" y="2464178"/>
              <a:ext cx="7715400" cy="1428900"/>
            </a:xfrm>
            <a:prstGeom prst="rect">
              <a:avLst/>
            </a:prstGeom>
            <a:solidFill>
              <a:srgbClr val="1A36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885713" y="2635629"/>
              <a:ext cx="73725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F0E6"/>
                </a:buClr>
                <a:buSzPts val="1400"/>
                <a:buFont typeface="Inter"/>
                <a:buNone/>
              </a:pPr>
              <a:r>
                <a:rPr b="1" i="0" lang="en-US" sz="1400" u="none" cap="none">
                  <a:solidFill>
                    <a:srgbClr val="E8F0E6"/>
                  </a:solidFill>
                  <a:latin typeface="Inter"/>
                  <a:ea typeface="Inter"/>
                  <a:cs typeface="Inter"/>
                  <a:sym typeface="Inter"/>
                </a:rPr>
                <a:t>Integração com IA (RAG)</a:t>
              </a:r>
              <a:endParaRPr b="0" i="0" sz="14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885713" y="2985672"/>
              <a:ext cx="7372500" cy="4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F0E6"/>
                </a:buClr>
                <a:buSzPts val="1150"/>
                <a:buFont typeface="Inter"/>
                <a:buNone/>
              </a:pPr>
              <a:r>
                <a:rPr b="0" i="0" lang="en-US" sz="1150" u="none" cap="none">
                  <a:solidFill>
                    <a:srgbClr val="E8F0E6"/>
                  </a:solidFill>
                  <a:latin typeface="Inter"/>
                  <a:ea typeface="Inter"/>
                  <a:cs typeface="Inter"/>
                  <a:sym typeface="Inter"/>
                </a:rPr>
                <a:t>Atua como uma </a:t>
              </a:r>
              <a:r>
                <a:rPr b="1" i="0" lang="en-US" sz="1100" u="none" cap="none">
                  <a:solidFill>
                    <a:srgbClr val="E8F0E6"/>
                  </a:solidFill>
                  <a:latin typeface="Inter"/>
                  <a:ea typeface="Inter"/>
                  <a:cs typeface="Inter"/>
                  <a:sym typeface="Inter"/>
                </a:rPr>
                <a:t>memória externa de longo prazo</a:t>
              </a:r>
              <a:r>
                <a:rPr b="0" i="0" lang="en-US" sz="1150" u="none" cap="none">
                  <a:solidFill>
                    <a:srgbClr val="E8F0E6"/>
                  </a:solidFill>
                  <a:latin typeface="Inter"/>
                  <a:ea typeface="Inter"/>
                  <a:cs typeface="Inter"/>
                  <a:sym typeface="Inter"/>
                </a:rPr>
                <a:t> para LLMs, fornecendo dados privados e atualizados sem necessidade de retreinamento.</a:t>
              </a:r>
              <a:endParaRPr b="0" i="0" sz="115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8"/>
          <p:cNvGrpSpPr/>
          <p:nvPr/>
        </p:nvGrpSpPr>
        <p:grpSpPr>
          <a:xfrm>
            <a:off x="738763" y="423350"/>
            <a:ext cx="7666475" cy="4296800"/>
            <a:chOff x="738763" y="29950"/>
            <a:chExt cx="7666475" cy="4296800"/>
          </a:xfrm>
        </p:grpSpPr>
        <p:sp>
          <p:nvSpPr>
            <p:cNvPr id="123" name="Google Shape;123;p8"/>
            <p:cNvSpPr/>
            <p:nvPr/>
          </p:nvSpPr>
          <p:spPr>
            <a:xfrm>
              <a:off x="758556" y="29950"/>
              <a:ext cx="46695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500"/>
                <a:buFont typeface="Inter"/>
                <a:buNone/>
              </a:pP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Limitações e Desafios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" name="Google Shape;124;p8"/>
            <p:cNvGrpSpPr/>
            <p:nvPr/>
          </p:nvGrpSpPr>
          <p:grpSpPr>
            <a:xfrm>
              <a:off x="738763" y="816750"/>
              <a:ext cx="7666475" cy="3510000"/>
              <a:chOff x="714363" y="1240766"/>
              <a:chExt cx="7666475" cy="3510000"/>
            </a:xfrm>
          </p:grpSpPr>
          <p:sp>
            <p:nvSpPr>
              <p:cNvPr id="125" name="Google Shape;125;p8"/>
              <p:cNvSpPr/>
              <p:nvPr/>
            </p:nvSpPr>
            <p:spPr>
              <a:xfrm>
                <a:off x="714363" y="1369353"/>
                <a:ext cx="3886200" cy="2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1100"/>
                  <a:buFont typeface="Inter"/>
                  <a:buNone/>
                </a:pPr>
                <a:r>
                  <a:rPr b="1" i="0" lang="en-US" sz="11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Dependência do Modelo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4363" y="1656498"/>
                <a:ext cx="3886200" cy="75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150"/>
                  <a:buFont typeface="Inter"/>
                  <a:buNone/>
                </a:pPr>
                <a:r>
                  <a:rPr b="0" i="0" lang="en-US" sz="115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A qualidade da busca é limitada pela capacidade do modelo de embedding em capturar o significado real dos dados.</a:t>
                </a:r>
                <a:endParaRPr b="0" i="0" sz="11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714363" y="2539365"/>
                <a:ext cx="3886200" cy="2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1100"/>
                  <a:buFont typeface="Inter"/>
                  <a:buNone/>
                </a:pPr>
                <a:r>
                  <a:rPr b="1" i="0" lang="en-US" sz="11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Custo de Memória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714363" y="2826511"/>
                <a:ext cx="3886200" cy="75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150"/>
                  <a:buFont typeface="Inter"/>
                  <a:buNone/>
                </a:pPr>
                <a:r>
                  <a:rPr b="0" i="0" lang="en-US" sz="115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Algoritmos como HNSW exigem que o índice resida em memória RAM para alta performance, elevando o custo operacional.</a:t>
                </a:r>
                <a:endParaRPr b="0" i="0" sz="11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714363" y="3709378"/>
                <a:ext cx="3886200" cy="2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1100"/>
                  <a:buFont typeface="Inter"/>
                  <a:buNone/>
                </a:pPr>
                <a:r>
                  <a:rPr b="1" i="0" lang="en-US" sz="11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Privacidade e Segurança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8"/>
              <p:cNvSpPr/>
              <p:nvPr/>
            </p:nvSpPr>
            <p:spPr>
              <a:xfrm>
                <a:off x="714363" y="3996523"/>
                <a:ext cx="3886200" cy="75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150"/>
                  <a:buFont typeface="Inter"/>
                  <a:buNone/>
                </a:pPr>
                <a:r>
                  <a:rPr b="0" i="0" lang="en-US" sz="115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Embeddings podem vazar informações sensíveis dos dados originais se não forem protegidos adequadamente.</a:t>
                </a:r>
                <a:endParaRPr b="0" i="0" sz="11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>
                <a:off x="4980338" y="1240766"/>
                <a:ext cx="3400500" cy="3510000"/>
              </a:xfrm>
              <a:prstGeom prst="rect">
                <a:avLst/>
              </a:prstGeom>
              <a:solidFill>
                <a:srgbClr val="DDE8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/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5029188" y="1240766"/>
                <a:ext cx="85800" cy="3510000"/>
              </a:xfrm>
              <a:prstGeom prst="rect">
                <a:avLst/>
              </a:prstGeom>
              <a:solidFill>
                <a:srgbClr val="1A362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/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>
                <a:off x="5314938" y="1455078"/>
                <a:ext cx="2829000" cy="27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600"/>
                  <a:buFont typeface="Inter"/>
                  <a:buNone/>
                </a:pPr>
                <a:r>
                  <a:rPr b="1" i="0" lang="en-US" sz="1600" u="none" cap="none">
                    <a:solidFill>
                      <a:srgbClr val="1A3622"/>
                    </a:solidFill>
                    <a:latin typeface="Inter"/>
                    <a:ea typeface="Inter"/>
                    <a:cs typeface="Inter"/>
                    <a:sym typeface="Inter"/>
                  </a:rPr>
                  <a:t>O Dilema do ANN</a:t>
                </a:r>
                <a:endParaRPr b="0" i="0" sz="16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5314938" y="2058725"/>
                <a:ext cx="796500" cy="1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850"/>
                  <a:buFont typeface="Inter Medium"/>
                  <a:buNone/>
                </a:pPr>
                <a:r>
                  <a:rPr b="0" i="0" lang="en-US" sz="850" u="none" cap="none">
                    <a:solidFill>
                      <a:srgbClr val="2C4A3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VELOCIDADE</a:t>
                </a:r>
                <a:endParaRPr b="0" i="0" sz="8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7530316" y="2058725"/>
                <a:ext cx="632100" cy="1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850"/>
                  <a:buFont typeface="Inter Medium"/>
                  <a:buNone/>
                </a:pPr>
                <a:r>
                  <a:rPr b="0" i="0" lang="en-US" sz="850" u="none" cap="none">
                    <a:solidFill>
                      <a:srgbClr val="2C4A3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PRECISÃO</a:t>
                </a:r>
                <a:endParaRPr b="0" i="0" sz="8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5314938" y="2340903"/>
                <a:ext cx="2829000" cy="4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950"/>
                  <a:buFont typeface="Inter"/>
                  <a:buNone/>
                </a:pPr>
                <a:r>
                  <a:rPr b="0" i="0" lang="en-US" sz="95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A busca aproximada (ANN) troca uma pequena margem de acerto por ganhos massivos de latência em grandes escalas.</a:t>
                </a:r>
                <a:endParaRPr b="0" i="0" sz="9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7" name="Google Shape;137;p8"/>
              <p:cNvCxnSpPr>
                <a:endCxn id="135" idx="1"/>
              </p:cNvCxnSpPr>
              <p:nvPr/>
            </p:nvCxnSpPr>
            <p:spPr>
              <a:xfrm>
                <a:off x="6148816" y="2125625"/>
                <a:ext cx="1381500" cy="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38" name="Google Shape;138;p8"/>
              <p:cNvCxnSpPr>
                <a:stCxn id="135" idx="1"/>
                <a:endCxn id="134" idx="3"/>
              </p:cNvCxnSpPr>
              <p:nvPr/>
            </p:nvCxnSpPr>
            <p:spPr>
              <a:xfrm rot="10800000">
                <a:off x="6111316" y="2128325"/>
                <a:ext cx="1419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714428" y="709654"/>
            <a:ext cx="7715144" cy="3724192"/>
            <a:chOff x="714425" y="367400"/>
            <a:chExt cx="7715144" cy="3724192"/>
          </a:xfrm>
        </p:grpSpPr>
        <p:sp>
          <p:nvSpPr>
            <p:cNvPr id="145" name="Google Shape;145;p9"/>
            <p:cNvSpPr/>
            <p:nvPr/>
          </p:nvSpPr>
          <p:spPr>
            <a:xfrm>
              <a:off x="714425" y="367400"/>
              <a:ext cx="41412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500"/>
                <a:buFont typeface="Inter"/>
                <a:buNone/>
              </a:pP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Aplicações Práticas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714431" y="1051908"/>
              <a:ext cx="7715138" cy="3039684"/>
              <a:chOff x="714425" y="1258966"/>
              <a:chExt cx="7715138" cy="3039684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714425" y="1258966"/>
                <a:ext cx="2700300" cy="35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27500" spcFirstLastPara="1" rIns="0" wrap="square" tIns="1700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150"/>
                  <a:buFont typeface="Inter Medium"/>
                  <a:buNone/>
                </a:pPr>
                <a:r>
                  <a:rPr b="1" i="0" lang="en-US" sz="1150" u="none" cap="none">
                    <a:solidFill>
                      <a:srgbClr val="1A3622"/>
                    </a:solidFill>
                    <a:latin typeface="Inter"/>
                    <a:ea typeface="Inter"/>
                    <a:cs typeface="Inter"/>
                    <a:sym typeface="Inter"/>
                  </a:rPr>
                  <a:t>APLICAÇÃO</a:t>
                </a:r>
                <a:endParaRPr b="1" i="0" sz="11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3414763" y="1258966"/>
                <a:ext cx="5014800" cy="35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27500" spcFirstLastPara="1" rIns="0" wrap="square" tIns="1700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150"/>
                  <a:buFont typeface="Inter Medium"/>
                  <a:buNone/>
                </a:pPr>
                <a:r>
                  <a:rPr b="1" i="0" lang="en-US" sz="1150" u="none" cap="none">
                    <a:solidFill>
                      <a:srgbClr val="1A3622"/>
                    </a:solidFill>
                    <a:latin typeface="Inter"/>
                    <a:ea typeface="Inter"/>
                    <a:cs typeface="Inter"/>
                    <a:sym typeface="Inter"/>
                  </a:rPr>
                  <a:t>O QUE É RECUPERADO POR SIMILARIDADE</a:t>
                </a:r>
                <a:endParaRPr b="1" i="0" sz="11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4425" y="1609009"/>
                <a:ext cx="2700300" cy="54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1150"/>
                  <a:buFont typeface="Inter Medium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RAG e Chatbots</a:t>
                </a:r>
                <a:endParaRPr i="0" sz="11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3414763" y="1609009"/>
                <a:ext cx="5014800" cy="54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05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Trechos de documentos privados relevantes para responder a uma pergunta específica do usuário.</a:t>
                </a:r>
                <a:endParaRPr b="0" i="0" sz="10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714425" y="2155506"/>
                <a:ext cx="2700300" cy="5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1150"/>
                  <a:buFont typeface="Inter Medium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Sistemas de Recomendação</a:t>
                </a:r>
                <a:endParaRPr i="0" sz="11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>
                <a:off x="3414763" y="2155506"/>
                <a:ext cx="5014800" cy="5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05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Produtos, filmes ou músicas que possuem vetores próximos ao histórico de interesse do usuário.</a:t>
                </a:r>
                <a:endParaRPr b="0" i="0" sz="10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714425" y="2691288"/>
                <a:ext cx="2700300" cy="5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1150"/>
                  <a:buFont typeface="Inter Medium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Busca Multimodal</a:t>
                </a:r>
                <a:endParaRPr i="0" sz="11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" name="Google Shape;154;p9"/>
              <p:cNvSpPr/>
              <p:nvPr/>
            </p:nvSpPr>
            <p:spPr>
              <a:xfrm>
                <a:off x="3414763" y="2691288"/>
                <a:ext cx="5014800" cy="5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05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Imagens encontradas a partir de descrições textuais ou vídeos similares a um frame de referência.</a:t>
                </a:r>
                <a:endParaRPr b="0" i="0" sz="10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714425" y="3227069"/>
                <a:ext cx="2700300" cy="5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1150"/>
                  <a:buFont typeface="Inter Medium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Detecção de Anomalias</a:t>
                </a:r>
                <a:endParaRPr i="0" sz="11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3414763" y="3227069"/>
                <a:ext cx="5014800" cy="5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05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Identificação de eventos ou transações cujos vetores estão isolados e distantes dos padrões normais.</a:t>
                </a:r>
                <a:endParaRPr b="0" i="0" sz="10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>
                <a:off x="714425" y="3762850"/>
                <a:ext cx="2700300" cy="5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1150"/>
                  <a:buFont typeface="Inter Medium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Memória de Agentes</a:t>
                </a:r>
                <a:endParaRPr i="0" sz="11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3414763" y="3762850"/>
                <a:ext cx="5014800" cy="5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27500" spcFirstLastPara="1" rIns="0" wrap="square" tIns="2125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05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Contextos de conversas passadas e fatos aprendidos que são úteis para a tarefa atual do agente de IA.</a:t>
                </a:r>
                <a:endParaRPr b="0" i="0" sz="10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0"/>
          <p:cNvGrpSpPr/>
          <p:nvPr/>
        </p:nvGrpSpPr>
        <p:grpSpPr>
          <a:xfrm>
            <a:off x="993227" y="769277"/>
            <a:ext cx="7157546" cy="3604946"/>
            <a:chOff x="714344" y="375950"/>
            <a:chExt cx="7159694" cy="3604946"/>
          </a:xfrm>
        </p:grpSpPr>
        <p:sp>
          <p:nvSpPr>
            <p:cNvPr id="165" name="Google Shape;165;p10"/>
            <p:cNvSpPr/>
            <p:nvPr/>
          </p:nvSpPr>
          <p:spPr>
            <a:xfrm>
              <a:off x="714350" y="375950"/>
              <a:ext cx="3860400" cy="5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500"/>
                <a:buFont typeface="Inter"/>
                <a:buNone/>
              </a:pP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SGBDs</a:t>
              </a:r>
              <a:r>
                <a:rPr b="0" i="0" lang="en-US" sz="3500" u="none" cap="none">
                  <a:solidFill>
                    <a:srgbClr val="1A3622"/>
                  </a:solidFill>
                  <a:latin typeface="Inter"/>
                  <a:ea typeface="Inter"/>
                  <a:cs typeface="Inter"/>
                  <a:sym typeface="Inter"/>
                </a:rPr>
                <a:t> e Serviços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6" name="Google Shape;166;p10"/>
            <p:cNvGrpSpPr/>
            <p:nvPr/>
          </p:nvGrpSpPr>
          <p:grpSpPr>
            <a:xfrm>
              <a:off x="714344" y="1162598"/>
              <a:ext cx="7159694" cy="2818298"/>
              <a:chOff x="714344" y="1735186"/>
              <a:chExt cx="7159694" cy="2818298"/>
            </a:xfrm>
          </p:grpSpPr>
          <p:sp>
            <p:nvSpPr>
              <p:cNvPr id="167" name="Google Shape;167;p10"/>
              <p:cNvSpPr/>
              <p:nvPr/>
            </p:nvSpPr>
            <p:spPr>
              <a:xfrm>
                <a:off x="714344" y="1735186"/>
                <a:ext cx="782100" cy="4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0050" lIns="127500" spcFirstLastPara="1" rIns="0" wrap="square" tIns="1700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000"/>
                  <a:buFont typeface="Inter"/>
                  <a:buNone/>
                </a:pPr>
                <a:r>
                  <a:rPr b="1" i="0" lang="en-US" sz="1100" u="none" cap="none">
                    <a:solidFill>
                      <a:srgbClr val="1A3622"/>
                    </a:solidFill>
                    <a:latin typeface="Inter"/>
                    <a:ea typeface="Inter"/>
                    <a:cs typeface="Inter"/>
                    <a:sym typeface="Inter"/>
                  </a:rPr>
                  <a:t>SISTEMA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0"/>
              <p:cNvSpPr/>
              <p:nvPr/>
            </p:nvSpPr>
            <p:spPr>
              <a:xfrm>
                <a:off x="1730338" y="1735191"/>
                <a:ext cx="6143700" cy="4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0050" lIns="127500" spcFirstLastPara="1" rIns="0" wrap="square" tIns="1700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000"/>
                  <a:buFont typeface="Inter"/>
                  <a:buNone/>
                </a:pPr>
                <a:r>
                  <a:rPr b="1" i="0" lang="en-US" sz="1100" u="none" cap="none">
                    <a:solidFill>
                      <a:srgbClr val="1A3622"/>
                    </a:solidFill>
                    <a:latin typeface="Inter"/>
                    <a:ea typeface="Inter"/>
                    <a:cs typeface="Inter"/>
                    <a:sym typeface="Inter"/>
                  </a:rPr>
                  <a:t>PERFIL E DIFERENCIAL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0"/>
              <p:cNvSpPr/>
              <p:nvPr/>
            </p:nvSpPr>
            <p:spPr>
              <a:xfrm>
                <a:off x="821494" y="2360269"/>
                <a:ext cx="689400" cy="17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000"/>
                  <a:buFont typeface="Inter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Pinecone</a:t>
                </a:r>
                <a:endParaRPr i="0" sz="110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1730338" y="2206678"/>
                <a:ext cx="6143700" cy="47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0050" lIns="127500" spcFirstLastPara="1" rIns="0" wrap="square" tIns="1700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10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Totalmente gerenciado, focado em facilidade de uso e escala serverless.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0"/>
              <p:cNvSpPr/>
              <p:nvPr/>
            </p:nvSpPr>
            <p:spPr>
              <a:xfrm>
                <a:off x="821494" y="2828184"/>
                <a:ext cx="685800" cy="17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000"/>
                  <a:buFont typeface="Inter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Weaviate</a:t>
                </a:r>
                <a:endParaRPr i="0" sz="110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2" name="Google Shape;172;p10"/>
              <p:cNvSpPr/>
              <p:nvPr/>
            </p:nvSpPr>
            <p:spPr>
              <a:xfrm>
                <a:off x="1730338" y="2681738"/>
                <a:ext cx="6143700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0050" lIns="127500" spcFirstLastPara="1" rIns="0" wrap="square" tIns="1700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10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Open-source com suporte a esquemas complexos e busca híbrida (vetor + texto).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821494" y="3296100"/>
                <a:ext cx="496500" cy="17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000"/>
                  <a:buFont typeface="Inter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Milvus</a:t>
                </a:r>
                <a:endParaRPr i="0" sz="110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4" name="Google Shape;174;p10"/>
              <p:cNvSpPr/>
              <p:nvPr/>
            </p:nvSpPr>
            <p:spPr>
              <a:xfrm>
                <a:off x="1730338" y="3149653"/>
                <a:ext cx="6143700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0050" lIns="127500" spcFirstLastPara="1" rIns="0" wrap="square" tIns="1700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10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Arquitetura distribuída voltada para altíssima escala e performance massiva.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821494" y="3764016"/>
                <a:ext cx="510900" cy="17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000"/>
                  <a:buFont typeface="Inter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Qdrant</a:t>
                </a:r>
                <a:endParaRPr i="0" sz="110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1730338" y="3617569"/>
                <a:ext cx="6143700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0050" lIns="127500" spcFirstLastPara="1" rIns="0" wrap="square" tIns="1700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10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Escrito em Rust, focado em eficiência de recursos e filtragem avançada de metadados.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0"/>
              <p:cNvSpPr/>
              <p:nvPr/>
            </p:nvSpPr>
            <p:spPr>
              <a:xfrm>
                <a:off x="821494" y="4231931"/>
                <a:ext cx="664500" cy="17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000"/>
                  <a:buFont typeface="Inter"/>
                  <a:buNone/>
                </a:pPr>
                <a:r>
                  <a:rPr i="0" lang="en-US" sz="11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pgvector</a:t>
                </a:r>
                <a:endParaRPr i="0" sz="1100" u="none" cap="none">
                  <a:solidFill>
                    <a:srgbClr val="C85A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1730338" y="4085484"/>
                <a:ext cx="6143700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0050" lIns="127500" spcFirstLastPara="1" rIns="0" wrap="square" tIns="1700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050"/>
                  <a:buFont typeface="Inter"/>
                  <a:buNone/>
                </a:pPr>
                <a:r>
                  <a:rPr b="0" i="0" lang="en-US" sz="110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Extensão para PostgreSQL, ideal para quem já utiliza infraestrutura relacional.</a:t>
                </a:r>
                <a:endParaRPr b="0" i="0" sz="11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1"/>
          <p:cNvGrpSpPr/>
          <p:nvPr/>
        </p:nvGrpSpPr>
        <p:grpSpPr>
          <a:xfrm>
            <a:off x="725704" y="775825"/>
            <a:ext cx="7692592" cy="3591850"/>
            <a:chOff x="725700" y="458600"/>
            <a:chExt cx="7692592" cy="3591850"/>
          </a:xfrm>
        </p:grpSpPr>
        <p:sp>
          <p:nvSpPr>
            <p:cNvPr id="185" name="Google Shape;185;p11"/>
            <p:cNvSpPr/>
            <p:nvPr/>
          </p:nvSpPr>
          <p:spPr>
            <a:xfrm>
              <a:off x="725700" y="458600"/>
              <a:ext cx="2366400" cy="4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622"/>
                </a:buClr>
                <a:buSzPts val="3200"/>
                <a:buFont typeface="Inter SemiBold"/>
                <a:buNone/>
              </a:pPr>
              <a:r>
                <a:rPr b="1" i="0" lang="en-US" sz="3500" u="none" cap="none">
                  <a:solidFill>
                    <a:srgbClr val="1A362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Conclusão</a:t>
              </a:r>
              <a:endParaRPr b="0" i="0" sz="35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6" name="Google Shape;186;p11"/>
            <p:cNvGrpSpPr/>
            <p:nvPr/>
          </p:nvGrpSpPr>
          <p:grpSpPr>
            <a:xfrm>
              <a:off x="725708" y="1093050"/>
              <a:ext cx="7692583" cy="2957400"/>
              <a:chOff x="714363" y="1240379"/>
              <a:chExt cx="7692583" cy="2957400"/>
            </a:xfrm>
          </p:grpSpPr>
          <p:sp>
            <p:nvSpPr>
              <p:cNvPr id="187" name="Google Shape;187;p11"/>
              <p:cNvSpPr/>
              <p:nvPr/>
            </p:nvSpPr>
            <p:spPr>
              <a:xfrm>
                <a:off x="714363" y="2232750"/>
                <a:ext cx="3177900" cy="67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1200"/>
                  <a:buFont typeface="Inter"/>
                  <a:buNone/>
                </a:pPr>
                <a:r>
                  <a:rPr b="0" i="0" lang="en-US" sz="1200" u="none" cap="none">
                    <a:solidFill>
                      <a:srgbClr val="2C4A35"/>
                    </a:solidFill>
                    <a:latin typeface="Inter"/>
                    <a:ea typeface="Inter"/>
                    <a:cs typeface="Inter"/>
                    <a:sym typeface="Inter"/>
                  </a:rPr>
                  <a:t>Bancos vetoriais ajudam a encontrar conteúdos parecidos pelo significado, mesmo quando as palavras não são iguais.</a:t>
                </a:r>
                <a:endParaRPr b="0" i="0" sz="120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>
                <a:off x="4253746" y="1240379"/>
                <a:ext cx="4153200" cy="2957400"/>
              </a:xfrm>
              <a:prstGeom prst="rect">
                <a:avLst/>
              </a:prstGeom>
              <a:solidFill>
                <a:srgbClr val="DDE8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/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4253746" y="1240379"/>
                <a:ext cx="4153200" cy="50100"/>
              </a:xfrm>
              <a:prstGeom prst="rect">
                <a:avLst/>
              </a:prstGeom>
              <a:solidFill>
                <a:srgbClr val="C85A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/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4510921" y="1454692"/>
                <a:ext cx="3638700" cy="2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3622"/>
                  </a:buClr>
                  <a:buSzPts val="1150"/>
                  <a:buFont typeface="Inter SemiBold"/>
                  <a:buNone/>
                </a:pPr>
                <a:r>
                  <a:rPr b="1" i="0" lang="en-US" sz="1150" u="none" cap="none">
                    <a:solidFill>
                      <a:srgbClr val="1A362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Fontes consultadas</a:t>
                </a:r>
                <a:endParaRPr b="0" i="0" sz="1150" u="non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>
                <a:off x="4739509" y="1908325"/>
                <a:ext cx="3177900" cy="1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800"/>
                  <a:buFont typeface="Inter"/>
                  <a:buNone/>
                </a:pPr>
                <a:r>
                  <a:rPr i="0" lang="en-US" sz="800" u="sng" cap="none">
                    <a:solidFill>
                      <a:schemeClr val="hlink"/>
                    </a:solidFill>
                    <a:latin typeface="Inter"/>
                    <a:ea typeface="Inter"/>
                    <a:cs typeface="Inter"/>
                    <a:sym typeface="Inter"/>
                    <a:hlinkClick r:id="rId4"/>
                  </a:rPr>
                  <a:t>IBM Think — “What is a vector database?”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>
                <a:off x="4510921" y="1897604"/>
                <a:ext cx="228600" cy="15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750"/>
                  <a:buFont typeface="Inter"/>
                  <a:buNone/>
                </a:pPr>
                <a:r>
                  <a:rPr b="1" i="0" lang="en-US" sz="8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[1]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>
                <a:off x="4510921" y="2260149"/>
                <a:ext cx="228600" cy="15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750"/>
                  <a:buFont typeface="Inter"/>
                  <a:buNone/>
                </a:pPr>
                <a:r>
                  <a:rPr b="1" i="0" lang="en-US" sz="8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[2]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>
                <a:off x="4739507" y="2270875"/>
                <a:ext cx="3177900" cy="1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800"/>
                  <a:buFont typeface="Inter"/>
                  <a:buNone/>
                </a:pPr>
                <a:r>
                  <a:rPr i="0" lang="en-US" sz="800" u="sng" cap="none">
                    <a:solidFill>
                      <a:schemeClr val="hlink"/>
                    </a:solidFill>
                    <a:latin typeface="Inter"/>
                    <a:ea typeface="Inter"/>
                    <a:cs typeface="Inter"/>
                    <a:sym typeface="Inter"/>
                    <a:hlinkClick r:id="rId5"/>
                  </a:rPr>
                  <a:t>Oracle — “Oracle AI Vector Search”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>
                <a:off x="4510921" y="2622695"/>
                <a:ext cx="228600" cy="15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750"/>
                  <a:buFont typeface="Inter"/>
                  <a:buNone/>
                </a:pPr>
                <a:r>
                  <a:rPr b="1" i="0" lang="en-US" sz="8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[3]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>
                <a:off x="4739513" y="2633400"/>
                <a:ext cx="3177900" cy="1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800"/>
                  <a:buFont typeface="Inter"/>
                  <a:buNone/>
                </a:pPr>
                <a:r>
                  <a:rPr i="0" lang="en-US" sz="800" u="sng" cap="none">
                    <a:solidFill>
                      <a:schemeClr val="hlink"/>
                    </a:solidFill>
                    <a:latin typeface="Inter"/>
                    <a:ea typeface="Inter"/>
                    <a:cs typeface="Inter"/>
                    <a:sym typeface="Inter"/>
                    <a:hlinkClick r:id="rId6"/>
                  </a:rPr>
                  <a:t>Google Cloud — “What is a vector database &amp; how does it work?”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>
                <a:off x="4510921" y="2985240"/>
                <a:ext cx="228600" cy="15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750"/>
                  <a:buFont typeface="Inter"/>
                  <a:buNone/>
                </a:pPr>
                <a:r>
                  <a:rPr b="1" i="0" lang="en-US" sz="8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[4]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8" name="Google Shape;198;p11"/>
              <p:cNvSpPr/>
              <p:nvPr/>
            </p:nvSpPr>
            <p:spPr>
              <a:xfrm>
                <a:off x="4739513" y="2998575"/>
                <a:ext cx="3177900" cy="28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800"/>
                  <a:buFont typeface="Inter"/>
                  <a:buNone/>
                </a:pPr>
                <a:r>
                  <a:rPr i="0" lang="en-US" sz="800" u="sng" cap="none">
                    <a:solidFill>
                      <a:schemeClr val="hlink"/>
                    </a:solidFill>
                    <a:latin typeface="Inter"/>
                    <a:ea typeface="Inter"/>
                    <a:cs typeface="Inter"/>
                    <a:sym typeface="Inter"/>
                    <a:hlinkClick r:id="rId7"/>
                  </a:rPr>
                  <a:t>PostgreSQL / pgvector — “Open-source vector similarity search for Postgres”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>
                <a:off x="4510921" y="3503162"/>
                <a:ext cx="228600" cy="15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85A40"/>
                  </a:buClr>
                  <a:buSzPts val="750"/>
                  <a:buFont typeface="Inter"/>
                  <a:buNone/>
                </a:pPr>
                <a:r>
                  <a:rPr b="1" i="0" lang="en-US" sz="800" u="none" cap="none">
                    <a:solidFill>
                      <a:srgbClr val="C85A40"/>
                    </a:solidFill>
                    <a:latin typeface="Inter"/>
                    <a:ea typeface="Inter"/>
                    <a:cs typeface="Inter"/>
                    <a:sym typeface="Inter"/>
                  </a:rPr>
                  <a:t>[5]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>
                <a:off x="4739521" y="3513878"/>
                <a:ext cx="3303900" cy="1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C4A35"/>
                  </a:buClr>
                  <a:buSzPts val="800"/>
                  <a:buFont typeface="Inter"/>
                  <a:buNone/>
                </a:pPr>
                <a:r>
                  <a:rPr i="0" lang="en-US" sz="800" u="sng" cap="none">
                    <a:solidFill>
                      <a:schemeClr val="hlink"/>
                    </a:solidFill>
                    <a:latin typeface="Inter"/>
                    <a:ea typeface="Inter"/>
                    <a:cs typeface="Inter"/>
                    <a:sym typeface="Inter"/>
                    <a:hlinkClick r:id="rId8"/>
                  </a:rPr>
                  <a:t>Malkov &amp; Yashunin — artigo sobre busca aproximada com HNSW</a:t>
                </a:r>
                <a:endParaRPr i="0" sz="800" u="non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